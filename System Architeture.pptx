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0B81-0ABE-4962-8E32-CB5EE437ABC8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88AF8-806B-444C-8DB3-DDCD9EDD5CD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544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0B81-0ABE-4962-8E32-CB5EE437ABC8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88AF8-806B-444C-8DB3-DDCD9EDD5CD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375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0B81-0ABE-4962-8E32-CB5EE437ABC8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88AF8-806B-444C-8DB3-DDCD9EDD5CD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653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0B81-0ABE-4962-8E32-CB5EE437ABC8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88AF8-806B-444C-8DB3-DDCD9EDD5CD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693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0B81-0ABE-4962-8E32-CB5EE437ABC8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88AF8-806B-444C-8DB3-DDCD9EDD5CD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873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0B81-0ABE-4962-8E32-CB5EE437ABC8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88AF8-806B-444C-8DB3-DDCD9EDD5CD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268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0B81-0ABE-4962-8E32-CB5EE437ABC8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88AF8-806B-444C-8DB3-DDCD9EDD5CD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155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0B81-0ABE-4962-8E32-CB5EE437ABC8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88AF8-806B-444C-8DB3-DDCD9EDD5CD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964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0B81-0ABE-4962-8E32-CB5EE437ABC8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88AF8-806B-444C-8DB3-DDCD9EDD5CD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504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0B81-0ABE-4962-8E32-CB5EE437ABC8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88AF8-806B-444C-8DB3-DDCD9EDD5CD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877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0B81-0ABE-4962-8E32-CB5EE437ABC8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88AF8-806B-444C-8DB3-DDCD9EDD5CD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107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50B81-0ABE-4962-8E32-CB5EE437ABC8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88AF8-806B-444C-8DB3-DDCD9EDD5CD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555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Virtual Payment Platform</a:t>
            </a:r>
            <a:endParaRPr lang="en-US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Issuing &amp; Managing Virtual Cards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6295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Introduction to the Platform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Virtual Payment Platform enables users to create and manage virtual cards for online payments</a:t>
            </a:r>
            <a:r>
              <a:rPr lang="en-US" dirty="0" smtClean="0"/>
              <a:t>.</a:t>
            </a:r>
          </a:p>
          <a:p>
            <a:r>
              <a:rPr lang="en-US" dirty="0"/>
              <a:t>It integrates with third-party APIs for virtual card and wallet services</a:t>
            </a:r>
            <a:r>
              <a:rPr lang="en-US" dirty="0" smtClean="0"/>
              <a:t>.</a:t>
            </a:r>
          </a:p>
          <a:p>
            <a:r>
              <a:rPr lang="en-US" dirty="0"/>
              <a:t>Designed to support secure, fast, and scalable transactions</a:t>
            </a:r>
            <a:r>
              <a:rPr lang="en-US" dirty="0" smtClean="0"/>
              <a:t>.</a:t>
            </a:r>
          </a:p>
          <a:p>
            <a:r>
              <a:rPr lang="en-US" dirty="0"/>
              <a:t>Uses Redis for caching and PostgreSQL for main data storage.</a:t>
            </a:r>
          </a:p>
        </p:txBody>
      </p:sp>
    </p:spTree>
    <p:extLst>
      <p:ext uri="{BB962C8B-B14F-4D97-AF65-F5344CB8AC3E}">
        <p14:creationId xmlns:p14="http://schemas.microsoft.com/office/powerpoint/2010/main" val="3792571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Main System Modules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Authentication &amp; User Management:</a:t>
            </a:r>
            <a:r>
              <a:rPr lang="en-US" dirty="0"/>
              <a:t> Handles user registration, login, and token verification</a:t>
            </a:r>
            <a:r>
              <a:rPr lang="en-US" dirty="0" smtClean="0"/>
              <a:t>.</a:t>
            </a:r>
          </a:p>
          <a:p>
            <a:r>
              <a:rPr lang="en-US" b="1" dirty="0"/>
              <a:t>Virtual Cards API:</a:t>
            </a:r>
            <a:r>
              <a:rPr lang="en-US" dirty="0"/>
              <a:t> Integrates with a third-party service to issue and manage virtual cards</a:t>
            </a:r>
            <a:r>
              <a:rPr lang="en-US" dirty="0" smtClean="0"/>
              <a:t>.</a:t>
            </a:r>
          </a:p>
          <a:p>
            <a:r>
              <a:rPr lang="en-US" b="1" dirty="0"/>
              <a:t>Walleting System:</a:t>
            </a:r>
            <a:r>
              <a:rPr lang="en-US" dirty="0"/>
              <a:t> Connects to wallet provider APIs for deposits and withdrawals</a:t>
            </a:r>
            <a:r>
              <a:rPr lang="en-US" dirty="0" smtClean="0"/>
              <a:t>.</a:t>
            </a:r>
          </a:p>
          <a:p>
            <a:r>
              <a:rPr lang="en-US" b="1" dirty="0"/>
              <a:t>Transaction System:</a:t>
            </a:r>
            <a:r>
              <a:rPr lang="en-US" dirty="0"/>
              <a:t> Uses Redis for fast, real-time transaction handling</a:t>
            </a:r>
            <a:r>
              <a:rPr lang="en-US" dirty="0" smtClean="0"/>
              <a:t>.</a:t>
            </a:r>
          </a:p>
          <a:p>
            <a:r>
              <a:rPr lang="en-US" b="1" dirty="0"/>
              <a:t>API Gateway &amp; Edge Services:</a:t>
            </a:r>
            <a:r>
              <a:rPr lang="en-US" dirty="0"/>
              <a:t> Routes requests, applies rate limits, and verifies authentication.</a:t>
            </a:r>
          </a:p>
        </p:txBody>
      </p:sp>
    </p:spTree>
    <p:extLst>
      <p:ext uri="{BB962C8B-B14F-4D97-AF65-F5344CB8AC3E}">
        <p14:creationId xmlns:p14="http://schemas.microsoft.com/office/powerpoint/2010/main" val="899607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Client–Server Architecture: Request–Response Cycle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smtClean="0"/>
              <a:t>client </a:t>
            </a:r>
            <a:r>
              <a:rPr lang="en-US" dirty="0"/>
              <a:t>(mobile/web app) sends requests through the API Gateway</a:t>
            </a:r>
            <a:r>
              <a:rPr lang="en-US" dirty="0" smtClean="0"/>
              <a:t>.</a:t>
            </a:r>
          </a:p>
          <a:p>
            <a:r>
              <a:rPr lang="en-US" dirty="0"/>
              <a:t>The server processes the request via </a:t>
            </a:r>
            <a:r>
              <a:rPr lang="en-US" dirty="0" err="1"/>
              <a:t>microservices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The database and Redis store and return required data</a:t>
            </a:r>
            <a:r>
              <a:rPr lang="en-US" dirty="0" smtClean="0"/>
              <a:t>.</a:t>
            </a:r>
          </a:p>
          <a:p>
            <a:r>
              <a:rPr lang="en-US" dirty="0"/>
              <a:t>Responses are sent back securely using HTTPS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113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3498" y="121921"/>
            <a:ext cx="6287588" cy="4894216"/>
          </a:xfrm>
          <a:prstGeom prst="rect">
            <a:avLst/>
          </a:prstGeom>
        </p:spPr>
      </p:pic>
      <p:sp>
        <p:nvSpPr>
          <p:cNvPr id="4" name="ZoneTexte 3"/>
          <p:cNvSpPr txBox="1"/>
          <p:nvPr/>
        </p:nvSpPr>
        <p:spPr>
          <a:xfrm>
            <a:off x="2943498" y="5016137"/>
            <a:ext cx="61308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/>
              <a:t>Figure 1: Client/Server Architecture Model</a:t>
            </a:r>
            <a:endParaRPr lang="en-US" sz="1000" i="1" dirty="0"/>
          </a:p>
        </p:txBody>
      </p:sp>
      <p:sp>
        <p:nvSpPr>
          <p:cNvPr id="5" name="ZoneTexte 4"/>
          <p:cNvSpPr txBox="1"/>
          <p:nvPr/>
        </p:nvSpPr>
        <p:spPr>
          <a:xfrm>
            <a:off x="3100250" y="5512526"/>
            <a:ext cx="6052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user → API Gateway → microservices → DB → back to user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356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Redis Function in Data Caching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Redis is used to store frequently accessed data (e.g., transactions, user sessions</a:t>
            </a:r>
            <a:r>
              <a:rPr lang="en-US" dirty="0" smtClean="0"/>
              <a:t>).</a:t>
            </a:r>
          </a:p>
          <a:p>
            <a:r>
              <a:rPr lang="en-US" dirty="0"/>
              <a:t>Reduces</a:t>
            </a:r>
            <a:r>
              <a:rPr lang="en-US" b="1" dirty="0"/>
              <a:t> </a:t>
            </a:r>
            <a:r>
              <a:rPr lang="en-US" dirty="0"/>
              <a:t>load</a:t>
            </a:r>
            <a:r>
              <a:rPr lang="en-US" b="1" dirty="0"/>
              <a:t> </a:t>
            </a:r>
            <a:r>
              <a:rPr lang="en-US" dirty="0"/>
              <a:t>on the main database</a:t>
            </a:r>
            <a:r>
              <a:rPr lang="en-US" dirty="0" smtClean="0"/>
              <a:t>.</a:t>
            </a:r>
          </a:p>
          <a:p>
            <a:r>
              <a:rPr lang="en-US" dirty="0"/>
              <a:t>Improves system speed and response time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01959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1416" y="136479"/>
            <a:ext cx="6705464" cy="4836115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2621416" y="4972594"/>
            <a:ext cx="46765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/>
              <a:t>Figure 2: Redis Caching Architecture Diagram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705394" y="5477692"/>
            <a:ext cx="1133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flows: API checks Redis first → if found (cache hit) → returns data → else fetches from database (cache miss).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338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Overall System Architecture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system uses </a:t>
            </a:r>
            <a:r>
              <a:rPr lang="en-US" dirty="0" err="1"/>
              <a:t>microservices</a:t>
            </a:r>
            <a:r>
              <a:rPr lang="en-US" dirty="0"/>
              <a:t> architecture divided into</a:t>
            </a:r>
            <a:r>
              <a:rPr lang="en-US" dirty="0" smtClean="0"/>
              <a:t>:</a:t>
            </a:r>
          </a:p>
          <a:p>
            <a:r>
              <a:rPr lang="en-US" b="1" dirty="0"/>
              <a:t>Edge Services:</a:t>
            </a:r>
            <a:r>
              <a:rPr lang="en-US" dirty="0"/>
              <a:t> Authentication, Rate Limiter, API </a:t>
            </a:r>
            <a:r>
              <a:rPr lang="en-US" dirty="0" smtClean="0"/>
              <a:t>Gateway</a:t>
            </a:r>
          </a:p>
          <a:p>
            <a:r>
              <a:rPr lang="en-US" b="1" dirty="0" err="1"/>
              <a:t>Microservices</a:t>
            </a:r>
            <a:r>
              <a:rPr lang="en-US" b="1" dirty="0"/>
              <a:t> Layer:</a:t>
            </a:r>
            <a:r>
              <a:rPr lang="en-US" dirty="0"/>
              <a:t> Card, Wallet, Transaction, Notification </a:t>
            </a:r>
            <a:r>
              <a:rPr lang="en-US" dirty="0" smtClean="0"/>
              <a:t>Services</a:t>
            </a:r>
          </a:p>
          <a:p>
            <a:r>
              <a:rPr lang="it-IT" b="1" dirty="0"/>
              <a:t>Data Layer:</a:t>
            </a:r>
            <a:r>
              <a:rPr lang="it-IT" dirty="0"/>
              <a:t> Redis (cache) + PostgreSQL (database</a:t>
            </a:r>
            <a:r>
              <a:rPr lang="it-IT" dirty="0" smtClean="0"/>
              <a:t>)</a:t>
            </a:r>
          </a:p>
          <a:p>
            <a:r>
              <a:rPr lang="en-US" b="1" dirty="0"/>
              <a:t>Third-party Services:</a:t>
            </a:r>
            <a:r>
              <a:rPr lang="en-US" dirty="0"/>
              <a:t> Virtual Card API, Wallet Provider API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090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1281" y="104503"/>
            <a:ext cx="6940730" cy="5451566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2621281" y="5556069"/>
            <a:ext cx="47984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/>
              <a:t>Figure 3: Overall System Architecture of the Platform</a:t>
            </a:r>
          </a:p>
        </p:txBody>
      </p:sp>
    </p:spTree>
    <p:extLst>
      <p:ext uri="{BB962C8B-B14F-4D97-AF65-F5344CB8AC3E}">
        <p14:creationId xmlns:p14="http://schemas.microsoft.com/office/powerpoint/2010/main" val="2928345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Edge Services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API Gateway:</a:t>
            </a:r>
            <a:r>
              <a:rPr lang="en-US" dirty="0"/>
              <a:t> Routes all incoming client requests to the right service</a:t>
            </a:r>
            <a:r>
              <a:rPr lang="en-US" dirty="0" smtClean="0"/>
              <a:t>.</a:t>
            </a:r>
          </a:p>
          <a:p>
            <a:r>
              <a:rPr lang="en-US" b="1" dirty="0"/>
              <a:t>Authentication Service:</a:t>
            </a:r>
            <a:r>
              <a:rPr lang="en-US" dirty="0"/>
              <a:t> Verifies user identity and issues access </a:t>
            </a:r>
            <a:r>
              <a:rPr lang="en-US" dirty="0" smtClean="0"/>
              <a:t>tokens.</a:t>
            </a:r>
          </a:p>
          <a:p>
            <a:r>
              <a:rPr lang="en-US" b="1" dirty="0"/>
              <a:t>Rate Limiter:</a:t>
            </a:r>
            <a:r>
              <a:rPr lang="en-US" dirty="0"/>
              <a:t> Controls how many requests users can make per second to avoid overload.</a:t>
            </a:r>
          </a:p>
        </p:txBody>
      </p:sp>
    </p:spTree>
    <p:extLst>
      <p:ext uri="{BB962C8B-B14F-4D97-AF65-F5344CB8AC3E}">
        <p14:creationId xmlns:p14="http://schemas.microsoft.com/office/powerpoint/2010/main" val="3857697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Microservices</a:t>
            </a:r>
            <a:r>
              <a:rPr lang="en-US" dirty="0"/>
              <a:t> Layer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</a:t>
            </a:r>
            <a:r>
              <a:rPr lang="en-US" dirty="0" err="1"/>
              <a:t>microservice</a:t>
            </a:r>
            <a:r>
              <a:rPr lang="en-US" dirty="0"/>
              <a:t> performs a specific function</a:t>
            </a:r>
            <a:r>
              <a:rPr lang="en-US" dirty="0" smtClean="0"/>
              <a:t>:</a:t>
            </a:r>
          </a:p>
          <a:p>
            <a:r>
              <a:rPr lang="en-US" b="1" dirty="0"/>
              <a:t>Card Service:</a:t>
            </a:r>
            <a:r>
              <a:rPr lang="en-US" dirty="0"/>
              <a:t> Handles requests to issue or manage virtual cards</a:t>
            </a:r>
            <a:r>
              <a:rPr lang="en-US" dirty="0" smtClean="0"/>
              <a:t>.</a:t>
            </a:r>
          </a:p>
          <a:p>
            <a:r>
              <a:rPr lang="en-US" b="1" dirty="0"/>
              <a:t>Wallet Service:</a:t>
            </a:r>
            <a:r>
              <a:rPr lang="en-US" dirty="0"/>
              <a:t> Connects to external wallet API for deposits/withdrawals</a:t>
            </a:r>
            <a:r>
              <a:rPr lang="en-US" dirty="0" smtClean="0"/>
              <a:t>.</a:t>
            </a:r>
          </a:p>
          <a:p>
            <a:r>
              <a:rPr lang="en-US" b="1" dirty="0"/>
              <a:t>Transaction Service:</a:t>
            </a:r>
            <a:r>
              <a:rPr lang="en-US" dirty="0"/>
              <a:t> Uses Redis for fast transaction recording and caching.</a:t>
            </a:r>
          </a:p>
        </p:txBody>
      </p:sp>
    </p:spTree>
    <p:extLst>
      <p:ext uri="{BB962C8B-B14F-4D97-AF65-F5344CB8AC3E}">
        <p14:creationId xmlns:p14="http://schemas.microsoft.com/office/powerpoint/2010/main" val="4139161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Programming Languages &amp; Databases Used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Backend Language:</a:t>
            </a:r>
            <a:r>
              <a:rPr lang="en-US" dirty="0"/>
              <a:t> Node.js (JavaScript/</a:t>
            </a:r>
            <a:r>
              <a:rPr lang="en-US" dirty="0" err="1"/>
              <a:t>TypeScript</a:t>
            </a:r>
            <a:r>
              <a:rPr lang="en-US" dirty="0"/>
              <a:t>) — fast, scalable, good for APIs</a:t>
            </a:r>
            <a:r>
              <a:rPr lang="en-US" dirty="0" smtClean="0"/>
              <a:t>.</a:t>
            </a:r>
          </a:p>
          <a:p>
            <a:r>
              <a:rPr lang="en-US" b="1" dirty="0"/>
              <a:t>Frontend Framework:</a:t>
            </a:r>
            <a:r>
              <a:rPr lang="en-US" dirty="0"/>
              <a:t> React Native — one codebase for mobile and web</a:t>
            </a:r>
            <a:r>
              <a:rPr lang="en-US" dirty="0" smtClean="0"/>
              <a:t>.</a:t>
            </a:r>
          </a:p>
          <a:p>
            <a:r>
              <a:rPr lang="en-US" b="1" dirty="0"/>
              <a:t>Database:</a:t>
            </a:r>
            <a:r>
              <a:rPr lang="en-US" dirty="0"/>
              <a:t> PostgreSQL — relational, ACID-compliant, secure</a:t>
            </a:r>
            <a:r>
              <a:rPr lang="en-US" dirty="0" smtClean="0"/>
              <a:t>.</a:t>
            </a:r>
          </a:p>
          <a:p>
            <a:r>
              <a:rPr lang="en-US" b="1"/>
              <a:t>Cache System:</a:t>
            </a:r>
            <a:r>
              <a:rPr lang="en-US"/>
              <a:t> Redis — in-memory for speed.</a:t>
            </a:r>
          </a:p>
        </p:txBody>
      </p:sp>
    </p:spTree>
    <p:extLst>
      <p:ext uri="{BB962C8B-B14F-4D97-AF65-F5344CB8AC3E}">
        <p14:creationId xmlns:p14="http://schemas.microsoft.com/office/powerpoint/2010/main" val="29465495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470</Words>
  <Application>Microsoft Office PowerPoint</Application>
  <PresentationFormat>Grand écran</PresentationFormat>
  <Paragraphs>47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Thème Office</vt:lpstr>
      <vt:lpstr>Virtual Payment Platform</vt:lpstr>
      <vt:lpstr>Introduction to the Platform</vt:lpstr>
      <vt:lpstr>Main System Modules</vt:lpstr>
      <vt:lpstr>Client–Server Architecture: Request–Response Cycle</vt:lpstr>
      <vt:lpstr>Présentation PowerPoint</vt:lpstr>
      <vt:lpstr>Redis Function in Data Caching</vt:lpstr>
      <vt:lpstr>Présentation PowerPoint</vt:lpstr>
      <vt:lpstr>Overall System Architecture</vt:lpstr>
      <vt:lpstr>Présentation PowerPoint</vt:lpstr>
      <vt:lpstr>Edge Services</vt:lpstr>
      <vt:lpstr>Microservices Layer</vt:lpstr>
      <vt:lpstr>Programming Languages &amp; Databases Used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Glenn Bafri Bafri</dc:creator>
  <cp:lastModifiedBy>Glenn Bafri Bafri</cp:lastModifiedBy>
  <cp:revision>11</cp:revision>
  <dcterms:created xsi:type="dcterms:W3CDTF">2025-10-20T11:45:30Z</dcterms:created>
  <dcterms:modified xsi:type="dcterms:W3CDTF">2025-10-22T11:09:58Z</dcterms:modified>
</cp:coreProperties>
</file>